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1599525" cy="32399288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1pPr>
    <a:lvl2pPr marL="457109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2pPr>
    <a:lvl3pPr marL="914217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3pPr>
    <a:lvl4pPr marL="1371326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4pPr>
    <a:lvl5pPr marL="1828434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5pPr>
    <a:lvl6pPr marL="2285543" algn="l" defTabSz="914217" rtl="0" eaLnBrk="1" latinLnBrk="1" hangingPunct="1"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6pPr>
    <a:lvl7pPr marL="2742651" algn="l" defTabSz="914217" rtl="0" eaLnBrk="1" latinLnBrk="1" hangingPunct="1"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7pPr>
    <a:lvl8pPr marL="3199760" algn="l" defTabSz="914217" rtl="0" eaLnBrk="1" latinLnBrk="1" hangingPunct="1"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8pPr>
    <a:lvl9pPr marL="3656868" algn="l" defTabSz="914217" rtl="0" eaLnBrk="1" latinLnBrk="1" hangingPunct="1">
      <a:defRPr kumimoji="1" sz="24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F5"/>
    <a:srgbClr val="FFFFCC"/>
    <a:srgbClr val="FFFFF3"/>
    <a:srgbClr val="FFFFE7"/>
    <a:srgbClr val="333333"/>
    <a:srgbClr val="86C6FA"/>
    <a:srgbClr val="90CAFA"/>
    <a:srgbClr val="92A3F8"/>
    <a:srgbClr val="887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73" autoAdjust="0"/>
    <p:restoredTop sz="98985" autoAdjust="0"/>
  </p:normalViewPr>
  <p:slideViewPr>
    <p:cSldViewPr>
      <p:cViewPr varScale="1">
        <p:scale>
          <a:sx n="24" d="100"/>
          <a:sy n="24" d="100"/>
        </p:scale>
        <p:origin x="24" y="84"/>
      </p:cViewPr>
      <p:guideLst>
        <p:guide orient="horz" pos="10205"/>
        <p:guide pos="6803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8081CFC-99E7-4801-8C72-B0DB8BBA79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8554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64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9000" y="776288"/>
            <a:ext cx="24828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32338"/>
            <a:ext cx="4986337" cy="442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6263"/>
            <a:ext cx="29464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66263"/>
            <a:ext cx="29464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643A232-7DAB-43EC-8CB6-CFE9B9A87A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97407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109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217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32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434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5543" algn="l" defTabSz="9142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1" algn="l" defTabSz="9142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20600" y="10064859"/>
            <a:ext cx="18358326" cy="694429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239612" y="18359915"/>
            <a:ext cx="15120302" cy="82791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154" indent="0" algn="ctr">
              <a:buNone/>
              <a:defRPr/>
            </a:lvl2pPr>
            <a:lvl3pPr marL="914309" indent="0" algn="ctr">
              <a:buNone/>
              <a:defRPr/>
            </a:lvl3pPr>
            <a:lvl4pPr marL="1371463" indent="0" algn="ctr">
              <a:buNone/>
              <a:defRPr/>
            </a:lvl4pPr>
            <a:lvl5pPr marL="1828617" indent="0" algn="ctr">
              <a:buNone/>
              <a:defRPr/>
            </a:lvl5pPr>
            <a:lvl6pPr marL="2285771" indent="0" algn="ctr">
              <a:buNone/>
              <a:defRPr/>
            </a:lvl6pPr>
            <a:lvl7pPr marL="2742926" indent="0" algn="ctr">
              <a:buNone/>
              <a:defRPr/>
            </a:lvl7pPr>
            <a:lvl8pPr marL="3200080" indent="0" algn="ctr">
              <a:buNone/>
              <a:defRPr/>
            </a:lvl8pPr>
            <a:lvl9pPr marL="3657234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273F1-8D36-4D1D-B637-0F229F2CC4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84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19012" y="9361699"/>
            <a:ext cx="18361501" cy="194392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19E3E-C607-4464-86AE-68F22DB3CB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39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06312" y="20820178"/>
            <a:ext cx="18359913" cy="643477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06312" y="13731445"/>
            <a:ext cx="18359913" cy="708873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154" indent="0">
              <a:buNone/>
              <a:defRPr sz="1800"/>
            </a:lvl2pPr>
            <a:lvl3pPr marL="914309" indent="0">
              <a:buNone/>
              <a:defRPr sz="1600"/>
            </a:lvl3pPr>
            <a:lvl4pPr marL="1371463" indent="0">
              <a:buNone/>
              <a:defRPr sz="1400"/>
            </a:lvl4pPr>
            <a:lvl5pPr marL="1828617" indent="0">
              <a:buNone/>
              <a:defRPr sz="1400"/>
            </a:lvl5pPr>
            <a:lvl6pPr marL="2285771" indent="0">
              <a:buNone/>
              <a:defRPr sz="1400"/>
            </a:lvl6pPr>
            <a:lvl7pPr marL="2742926" indent="0">
              <a:buNone/>
              <a:defRPr sz="1400"/>
            </a:lvl7pPr>
            <a:lvl8pPr marL="3200080" indent="0">
              <a:buNone/>
              <a:defRPr sz="1400"/>
            </a:lvl8pPr>
            <a:lvl9pPr marL="3657234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92599-2CF7-47DD-904C-20ABD48BAB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375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619012" y="9361699"/>
            <a:ext cx="9104562" cy="194392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875951" y="9361699"/>
            <a:ext cx="9104562" cy="194392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AAC0-84FB-4AF1-AEA6-51C84C8442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006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342" y="1296798"/>
            <a:ext cx="19440842" cy="539988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79341" y="7252222"/>
            <a:ext cx="9544235" cy="3022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79341" y="10274379"/>
            <a:ext cx="9544235" cy="1866784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972775" y="7252222"/>
            <a:ext cx="9547409" cy="3022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972775" y="10274379"/>
            <a:ext cx="9547409" cy="1866784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8D218-2427-42BB-AE5D-957AFB570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717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7DD34-FCA5-4391-8BDD-543ED3A56F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568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70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342" y="1290449"/>
            <a:ext cx="7106193" cy="5488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444259" y="1290449"/>
            <a:ext cx="12075925" cy="2765177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79342" y="6779216"/>
            <a:ext cx="7106193" cy="221630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54" indent="0">
              <a:buNone/>
              <a:defRPr sz="1200"/>
            </a:lvl2pPr>
            <a:lvl3pPr marL="914309" indent="0">
              <a:buNone/>
              <a:defRPr sz="1000"/>
            </a:lvl3pPr>
            <a:lvl4pPr marL="1371463" indent="0">
              <a:buNone/>
              <a:defRPr sz="900"/>
            </a:lvl4pPr>
            <a:lvl5pPr marL="1828617" indent="0">
              <a:buNone/>
              <a:defRPr sz="900"/>
            </a:lvl5pPr>
            <a:lvl6pPr marL="2285771" indent="0">
              <a:buNone/>
              <a:defRPr sz="900"/>
            </a:lvl6pPr>
            <a:lvl7pPr marL="2742926" indent="0">
              <a:buNone/>
              <a:defRPr sz="900"/>
            </a:lvl7pPr>
            <a:lvl8pPr marL="3200080" indent="0">
              <a:buNone/>
              <a:defRPr sz="900"/>
            </a:lvl8pPr>
            <a:lvl9pPr marL="3657234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D6E51-004F-463D-B808-52C18D521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157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33241" y="22678867"/>
            <a:ext cx="12960032" cy="267771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33241" y="2895175"/>
            <a:ext cx="12960032" cy="19439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54" indent="0">
              <a:buNone/>
              <a:defRPr sz="2800"/>
            </a:lvl2pPr>
            <a:lvl3pPr marL="914309" indent="0">
              <a:buNone/>
              <a:defRPr sz="2400"/>
            </a:lvl3pPr>
            <a:lvl4pPr marL="1371463" indent="0">
              <a:buNone/>
              <a:defRPr sz="2000"/>
            </a:lvl4pPr>
            <a:lvl5pPr marL="1828617" indent="0">
              <a:buNone/>
              <a:defRPr sz="2000"/>
            </a:lvl5pPr>
            <a:lvl6pPr marL="2285771" indent="0">
              <a:buNone/>
              <a:defRPr sz="2000"/>
            </a:lvl6pPr>
            <a:lvl7pPr marL="2742926" indent="0">
              <a:buNone/>
              <a:defRPr sz="2000"/>
            </a:lvl7pPr>
            <a:lvl8pPr marL="3200080" indent="0">
              <a:buNone/>
              <a:defRPr sz="2000"/>
            </a:lvl8pPr>
            <a:lvl9pPr marL="3657234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33241" y="25356586"/>
            <a:ext cx="12960032" cy="3803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54" indent="0">
              <a:buNone/>
              <a:defRPr sz="1200"/>
            </a:lvl2pPr>
            <a:lvl3pPr marL="914309" indent="0">
              <a:buNone/>
              <a:defRPr sz="1000"/>
            </a:lvl3pPr>
            <a:lvl4pPr marL="1371463" indent="0">
              <a:buNone/>
              <a:defRPr sz="900"/>
            </a:lvl4pPr>
            <a:lvl5pPr marL="1828617" indent="0">
              <a:buNone/>
              <a:defRPr sz="900"/>
            </a:lvl5pPr>
            <a:lvl6pPr marL="2285771" indent="0">
              <a:buNone/>
              <a:defRPr sz="900"/>
            </a:lvl6pPr>
            <a:lvl7pPr marL="2742926" indent="0">
              <a:buNone/>
              <a:defRPr sz="900"/>
            </a:lvl7pPr>
            <a:lvl8pPr marL="3200080" indent="0">
              <a:buNone/>
              <a:defRPr sz="900"/>
            </a:lvl8pPr>
            <a:lvl9pPr marL="3657234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E2370-E46A-4281-80E2-EBD79C4EF1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299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619012" y="9361699"/>
            <a:ext cx="18361501" cy="194392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7BC2C-C5AB-456D-B29B-0A8F70B881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543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5390138" y="2880890"/>
            <a:ext cx="4590375" cy="2592006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619012" y="2880890"/>
            <a:ext cx="13618748" cy="259200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619012" y="29518399"/>
            <a:ext cx="4499902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380790" y="29518399"/>
            <a:ext cx="6837945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5480612" y="29518399"/>
            <a:ext cx="4499901" cy="215868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AD1DA-01EE-4825-93E4-6A4051498A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786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21599525" cy="32399288"/>
          </a:xfrm>
          <a:prstGeom prst="rect">
            <a:avLst/>
          </a:prstGeom>
          <a:solidFill>
            <a:srgbClr val="D7D7F5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1258703" y="3403063"/>
            <a:ext cx="19172130" cy="26613115"/>
          </a:xfrm>
          <a:prstGeom prst="roundRect">
            <a:avLst>
              <a:gd name="adj" fmla="val 1774"/>
            </a:avLst>
          </a:prstGeom>
          <a:solidFill>
            <a:srgbClr val="FFFFF3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58703" y="807934"/>
            <a:ext cx="18361501" cy="116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98216" tIns="149108" rIns="298216" bIns="149108" numCol="1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ko-KR" altLang="en-US" sz="5999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논 문 제 목</a:t>
            </a:r>
            <a:endParaRPr lang="ko-KR" altLang="en-US" sz="5999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22"/>
          <p:cNvSpPr txBox="1">
            <a:spLocks noChangeArrowheads="1"/>
          </p:cNvSpPr>
          <p:nvPr userDrawn="1"/>
        </p:nvSpPr>
        <p:spPr bwMode="auto">
          <a:xfrm>
            <a:off x="16470392" y="30674537"/>
            <a:ext cx="41857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4000" dirty="0" smtClean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2017.1 </a:t>
            </a:r>
            <a:r>
              <a:rPr lang="ko-KR" altLang="en-US" sz="4000" smtClean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졸업 </a:t>
            </a:r>
            <a:r>
              <a:rPr lang="ko-KR" altLang="en-US" sz="400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논문</a:t>
            </a:r>
          </a:p>
        </p:txBody>
      </p:sp>
      <p:sp>
        <p:nvSpPr>
          <p:cNvPr id="10" name="TextBox 25"/>
          <p:cNvSpPr txBox="1">
            <a:spLocks noChangeArrowheads="1"/>
          </p:cNvSpPr>
          <p:nvPr userDrawn="1"/>
        </p:nvSpPr>
        <p:spPr bwMode="auto">
          <a:xfrm>
            <a:off x="1888772" y="30631499"/>
            <a:ext cx="7023656" cy="707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40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한양대학교 미래자동차공학과</a:t>
            </a:r>
          </a:p>
        </p:txBody>
      </p:sp>
      <p:pic>
        <p:nvPicPr>
          <p:cNvPr id="12" name="그림 11" descr="한양대학교UI로고_big.pn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61" y="30472653"/>
            <a:ext cx="1165273" cy="111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81027" rtl="0" eaLnBrk="1" fontAlgn="base" latinLnBrk="1" hangingPunct="1">
        <a:lnSpc>
          <a:spcPct val="120000"/>
        </a:lnSpc>
        <a:spcBef>
          <a:spcPct val="0"/>
        </a:spcBef>
        <a:spcAft>
          <a:spcPct val="0"/>
        </a:spcAft>
        <a:buFontTx/>
        <a:buNone/>
        <a:defRPr kumimoji="1" sz="40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ctr" defTabSz="2981027" rtl="0" eaLnBrk="0" fontAlgn="base" latinLnBrk="1" hangingPunct="0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2pPr>
      <a:lvl3pPr algn="ctr" defTabSz="2981027" rtl="0" eaLnBrk="0" fontAlgn="base" latinLnBrk="1" hangingPunct="0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3pPr>
      <a:lvl4pPr algn="ctr" defTabSz="2981027" rtl="0" eaLnBrk="0" fontAlgn="base" latinLnBrk="1" hangingPunct="0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4pPr>
      <a:lvl5pPr algn="ctr" defTabSz="2981027" rtl="0" eaLnBrk="0" fontAlgn="base" latinLnBrk="1" hangingPunct="0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5pPr>
      <a:lvl6pPr marL="457154" algn="ctr" defTabSz="2981027" rtl="0" fontAlgn="base" latinLnBrk="1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6pPr>
      <a:lvl7pPr marL="914309" algn="ctr" defTabSz="2981027" rtl="0" fontAlgn="base" latinLnBrk="1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7pPr>
      <a:lvl8pPr marL="1371463" algn="ctr" defTabSz="2981027" rtl="0" fontAlgn="base" latinLnBrk="1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8pPr>
      <a:lvl9pPr marL="1828617" algn="ctr" defTabSz="2981027" rtl="0" fontAlgn="base" latinLnBrk="1">
        <a:spcBef>
          <a:spcPct val="0"/>
        </a:spcBef>
        <a:spcAft>
          <a:spcPct val="0"/>
        </a:spcAft>
        <a:defRPr kumimoji="1" sz="14399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1119076" indent="-1119076" algn="l" defTabSz="2981027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0499">
          <a:solidFill>
            <a:schemeClr val="tx1"/>
          </a:solidFill>
          <a:latin typeface="+mn-lt"/>
          <a:ea typeface="+mn-ea"/>
          <a:cs typeface="+mn-cs"/>
        </a:defRPr>
      </a:lvl1pPr>
      <a:lvl2pPr marL="2423871" indent="-931770" algn="l" defTabSz="2981027" rtl="0" eaLnBrk="0" fontAlgn="base" latinLnBrk="1" hangingPunct="0">
        <a:spcBef>
          <a:spcPct val="20000"/>
        </a:spcBef>
        <a:spcAft>
          <a:spcPct val="0"/>
        </a:spcAft>
        <a:buChar char="–"/>
        <a:defRPr kumimoji="1" sz="9199">
          <a:solidFill>
            <a:schemeClr val="tx1"/>
          </a:solidFill>
          <a:latin typeface="+mn-lt"/>
          <a:ea typeface="+mn-ea"/>
        </a:defRPr>
      </a:lvl2pPr>
      <a:lvl3pPr marL="3727077" indent="-746050" algn="l" defTabSz="2981027" rtl="0" eaLnBrk="0" fontAlgn="base" latinLnBrk="1" hangingPunct="0">
        <a:spcBef>
          <a:spcPct val="20000"/>
        </a:spcBef>
        <a:spcAft>
          <a:spcPct val="0"/>
        </a:spcAft>
        <a:buChar char="•"/>
        <a:defRPr kumimoji="1" sz="7899">
          <a:solidFill>
            <a:schemeClr val="tx1"/>
          </a:solidFill>
          <a:latin typeface="+mn-lt"/>
          <a:ea typeface="+mn-ea"/>
        </a:defRPr>
      </a:lvl3pPr>
      <a:lvl4pPr marL="5219178" indent="-746050" algn="l" defTabSz="2981027" rtl="0" eaLnBrk="0" fontAlgn="base" latinLnBrk="1" hangingPunct="0">
        <a:spcBef>
          <a:spcPct val="20000"/>
        </a:spcBef>
        <a:spcAft>
          <a:spcPct val="0"/>
        </a:spcAft>
        <a:buChar char="–"/>
        <a:defRPr kumimoji="1" sz="6499">
          <a:solidFill>
            <a:schemeClr val="tx1"/>
          </a:solidFill>
          <a:latin typeface="+mn-lt"/>
          <a:ea typeface="+mn-ea"/>
        </a:defRPr>
      </a:lvl4pPr>
      <a:lvl5pPr marL="6708104" indent="-744464" algn="l" defTabSz="2981027" rtl="0" eaLnBrk="0" fontAlgn="base" latinLnBrk="1" hangingPunct="0">
        <a:spcBef>
          <a:spcPct val="20000"/>
        </a:spcBef>
        <a:spcAft>
          <a:spcPct val="0"/>
        </a:spcAft>
        <a:buChar char="»"/>
        <a:defRPr kumimoji="1" sz="6499">
          <a:solidFill>
            <a:schemeClr val="tx1"/>
          </a:solidFill>
          <a:latin typeface="+mn-lt"/>
          <a:ea typeface="+mn-ea"/>
        </a:defRPr>
      </a:lvl5pPr>
      <a:lvl6pPr marL="7165258" indent="-744464" algn="l" defTabSz="2981027" rtl="0" fontAlgn="base" latinLnBrk="1">
        <a:spcBef>
          <a:spcPct val="20000"/>
        </a:spcBef>
        <a:spcAft>
          <a:spcPct val="0"/>
        </a:spcAft>
        <a:buChar char="»"/>
        <a:defRPr kumimoji="1" sz="6499">
          <a:solidFill>
            <a:schemeClr val="tx1"/>
          </a:solidFill>
          <a:latin typeface="+mn-lt"/>
          <a:ea typeface="+mn-ea"/>
        </a:defRPr>
      </a:lvl6pPr>
      <a:lvl7pPr marL="7622413" indent="-744464" algn="l" defTabSz="2981027" rtl="0" fontAlgn="base" latinLnBrk="1">
        <a:spcBef>
          <a:spcPct val="20000"/>
        </a:spcBef>
        <a:spcAft>
          <a:spcPct val="0"/>
        </a:spcAft>
        <a:buChar char="»"/>
        <a:defRPr kumimoji="1" sz="6499">
          <a:solidFill>
            <a:schemeClr val="tx1"/>
          </a:solidFill>
          <a:latin typeface="+mn-lt"/>
          <a:ea typeface="+mn-ea"/>
        </a:defRPr>
      </a:lvl7pPr>
      <a:lvl8pPr marL="8079567" indent="-744464" algn="l" defTabSz="2981027" rtl="0" fontAlgn="base" latinLnBrk="1">
        <a:spcBef>
          <a:spcPct val="20000"/>
        </a:spcBef>
        <a:spcAft>
          <a:spcPct val="0"/>
        </a:spcAft>
        <a:buChar char="»"/>
        <a:defRPr kumimoji="1" sz="6499">
          <a:solidFill>
            <a:schemeClr val="tx1"/>
          </a:solidFill>
          <a:latin typeface="+mn-lt"/>
          <a:ea typeface="+mn-ea"/>
        </a:defRPr>
      </a:lvl8pPr>
      <a:lvl9pPr marL="8536721" indent="-744464" algn="l" defTabSz="2981027" rtl="0" fontAlgn="base" latinLnBrk="1">
        <a:spcBef>
          <a:spcPct val="20000"/>
        </a:spcBef>
        <a:spcAft>
          <a:spcPct val="0"/>
        </a:spcAft>
        <a:buChar char="»"/>
        <a:defRPr kumimoji="1" sz="649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258703" y="942949"/>
            <a:ext cx="19172130" cy="105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kern="0" spc="-6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고속도로 주행상황에서 자율주행차량 충돌회피 모델</a:t>
            </a:r>
            <a:endParaRPr lang="ko-KR" altLang="en-US" sz="6000" b="1" kern="0" spc="-6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339631" y="4465651"/>
            <a:ext cx="6774454" cy="7460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논문 배경 및 목적</a:t>
            </a:r>
          </a:p>
        </p:txBody>
      </p:sp>
      <p:sp>
        <p:nvSpPr>
          <p:cNvPr id="4102" name="TextBox 208"/>
          <p:cNvSpPr txBox="1">
            <a:spLocks noChangeArrowheads="1"/>
          </p:cNvSpPr>
          <p:nvPr/>
        </p:nvSpPr>
        <p:spPr bwMode="auto">
          <a:xfrm>
            <a:off x="2361853" y="5556103"/>
            <a:ext cx="16853844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49275" indent="-549275"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고속도로 상황을 가정하여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빠르게 주행하는 차량 사이의 충돌 회피 알고리즘 구현 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차량 간의 상대 거리를 기준으로 충돌 위험을 예측하여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8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상황별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path planning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진행</a:t>
            </a:r>
            <a:endParaRPr lang="en-US" altLang="ko-KR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Pure pursuit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과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PID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제어를 복합적으로 사용하여 추종 성능 향상</a:t>
            </a:r>
            <a:endParaRPr lang="en-US" altLang="ko-KR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승차감을 고려하여 계수 최적화</a:t>
            </a:r>
            <a:endParaRPr lang="en-US" altLang="ko-KR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2339631" y="8908834"/>
            <a:ext cx="6774454" cy="7460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논문</a:t>
            </a:r>
            <a:r>
              <a:rPr lang="en-US" altLang="ko-KR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36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내용</a:t>
            </a:r>
            <a:endParaRPr lang="ko-KR" altLang="en-US" sz="360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108" name="TextBox 212"/>
          <p:cNvSpPr txBox="1">
            <a:spLocks noChangeArrowheads="1"/>
          </p:cNvSpPr>
          <p:nvPr/>
        </p:nvSpPr>
        <p:spPr bwMode="auto">
          <a:xfrm>
            <a:off x="2342805" y="9996111"/>
            <a:ext cx="16872891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49275" indent="-549275"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충돌 위험 예측을 통한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단계 분류 진행</a:t>
            </a:r>
            <a:endParaRPr lang="en-US" altLang="ko-KR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Sigmoid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함수를 이용하여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in-lane change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와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lane change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의 경로 생성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기하학적인 관계를 고려하는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pure pursuit method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를 사용하여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steering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제어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PID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제어기 및 계수 최적화를 통한 제어 성능 및 승차감 향상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en-US" altLang="ko-KR" sz="28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CarSim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을 이용한 결과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Simulation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118" name="TextBox 6"/>
          <p:cNvSpPr txBox="1">
            <a:spLocks noChangeArrowheads="1"/>
          </p:cNvSpPr>
          <p:nvPr/>
        </p:nvSpPr>
        <p:spPr bwMode="auto">
          <a:xfrm>
            <a:off x="14535177" y="2023069"/>
            <a:ext cx="6525253" cy="119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한양대학교 미래자동차공학과</a:t>
            </a:r>
            <a:endParaRPr lang="en-US" altLang="ko-KR" sz="24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  </a:t>
            </a:r>
            <a:r>
              <a:rPr lang="ko-KR" altLang="en-US" sz="2400" b="1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권 우 진</a:t>
            </a:r>
            <a:r>
              <a:rPr lang="en-US" altLang="ko-KR" sz="2400" b="1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400" b="1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권 미 영</a:t>
            </a:r>
            <a:endParaRPr lang="en-US" altLang="ko-KR" sz="24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지도교수</a:t>
            </a:r>
            <a:r>
              <a:rPr lang="en-US" altLang="ko-KR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ko-KR" altLang="en-US" sz="24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400" b="1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허 건 수</a:t>
            </a:r>
            <a:endParaRPr lang="ko-KR" altLang="en-US" sz="24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74137" y="12660561"/>
            <a:ext cx="2159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63847" y="12303155"/>
            <a:ext cx="44552740" cy="12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8634552" y="4738496"/>
            <a:ext cx="2159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09" y="13531762"/>
            <a:ext cx="7513794" cy="4342882"/>
          </a:xfrm>
          <a:prstGeom prst="rect">
            <a:avLst/>
          </a:prstGeom>
          <a:ln w="6350">
            <a:noFill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0" y="0"/>
            <a:ext cx="2159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3" name="_x357257496" descr="EMB00002694345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"/>
          <a:stretch>
            <a:fillRect/>
          </a:stretch>
        </p:blipFill>
        <p:spPr bwMode="auto">
          <a:xfrm>
            <a:off x="4662707" y="13463158"/>
            <a:ext cx="5029198" cy="443423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직사각형 34"/>
          <p:cNvSpPr/>
          <p:nvPr/>
        </p:nvSpPr>
        <p:spPr>
          <a:xfrm>
            <a:off x="2365027" y="18449894"/>
            <a:ext cx="6774454" cy="7460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논문</a:t>
            </a:r>
            <a:r>
              <a:rPr lang="en-US" altLang="ko-KR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36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결과</a:t>
            </a:r>
            <a:endParaRPr lang="ko-KR" altLang="en-US" sz="360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212"/>
              <p:cNvSpPr txBox="1">
                <a:spLocks noChangeArrowheads="1"/>
              </p:cNvSpPr>
              <p:nvPr/>
            </p:nvSpPr>
            <p:spPr bwMode="auto">
              <a:xfrm>
                <a:off x="2342806" y="19489666"/>
                <a:ext cx="16645666" cy="27274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549275" indent="-549275" latinLnBrk="1">
                  <a:spcBef>
                    <a:spcPct val="20000"/>
                  </a:spcBef>
                  <a:buChar char="•"/>
                  <a:defRPr kumimoji="1" sz="10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9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79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65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굴림" panose="020B0600000101010101" pitchFamily="50" charset="-127"/>
                  <a:buChar char="█"/>
                </a:pP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In-lane</a:t>
                </a:r>
                <a:r>
                  <a:rPr lang="ko-KR" altLang="en-US" sz="28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변경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,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차선 변경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,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안전 상황을 기대한 바와 같이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분류하여 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pure pursuit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회피 성공</a:t>
                </a:r>
                <a:endParaRPr lang="en-US" altLang="ko-KR" sz="2800" dirty="0" smtClean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굴림" panose="020B0600000101010101" pitchFamily="50" charset="-127"/>
                  <a:buChar char="█"/>
                </a:pP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최대 </a:t>
                </a:r>
                <a:r>
                  <a:rPr lang="ko-KR" altLang="en-US" sz="2800" dirty="0" err="1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횡방향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가속도가 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0.5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p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𝑚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/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𝑠</m:t>
                        </m:r>
                      </m:e>
                      <m:sup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을 넘지 않음</a:t>
                </a:r>
                <a:endParaRPr lang="en-US" altLang="ko-KR" sz="2800" dirty="0" smtClean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굴림" panose="020B0600000101010101" pitchFamily="50" charset="-127"/>
                  <a:buChar char="█"/>
                </a:pP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승차감을 고려한 계수 최적화 결과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와 </a:t>
                </a:r>
                <a:r>
                  <a:rPr lang="en-US" altLang="ko-KR" sz="2800" dirty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𝑘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각각 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0.72, </a:t>
                </a:r>
                <a:r>
                  <a:rPr lang="en-US" altLang="ko-KR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0.63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의 </a:t>
                </a:r>
                <a:r>
                  <a:rPr lang="ko-KR" altLang="en-US" sz="2800" dirty="0" smtClean="0"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값을 도출</a:t>
                </a:r>
                <a:endParaRPr lang="en-US" altLang="ko-KR" sz="2800" dirty="0" smtClean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굴림" panose="020B0600000101010101" pitchFamily="50" charset="-127"/>
                  <a:buChar char="█"/>
                </a:pPr>
                <a:endParaRPr lang="en-US" altLang="ko-KR" sz="28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36" name="TextBox 2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806" y="19489666"/>
                <a:ext cx="16645666" cy="2727478"/>
              </a:xfrm>
              <a:prstGeom prst="rect">
                <a:avLst/>
              </a:prstGeom>
              <a:blipFill>
                <a:blip r:embed="rId4"/>
                <a:stretch>
                  <a:fillRect l="-5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2047"/>
          <p:cNvSpPr txBox="1">
            <a:spLocks noChangeArrowheads="1"/>
          </p:cNvSpPr>
          <p:nvPr/>
        </p:nvSpPr>
        <p:spPr bwMode="auto">
          <a:xfrm>
            <a:off x="6481914" y="24837784"/>
            <a:ext cx="86356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In-lane </a:t>
            </a:r>
            <a:r>
              <a:rPr lang="ko-KR" altLang="en-US" sz="24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변경과 차선 변경 제어의 차량 경로 및 </a:t>
            </a:r>
            <a:r>
              <a:rPr lang="ko-KR" altLang="en-US" sz="24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횡방향</a:t>
            </a:r>
            <a:r>
              <a:rPr lang="ko-KR" altLang="en-US" sz="24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가속도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39631" y="25740704"/>
            <a:ext cx="6774454" cy="7460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ko-KR" altLang="en-US" sz="36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논문</a:t>
            </a:r>
            <a:r>
              <a:rPr lang="en-US" altLang="ko-KR" sz="3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36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결론</a:t>
            </a:r>
            <a:endParaRPr lang="ko-KR" altLang="en-US" sz="3600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9" name="TextBox 212"/>
          <p:cNvSpPr txBox="1">
            <a:spLocks noChangeArrowheads="1"/>
          </p:cNvSpPr>
          <p:nvPr/>
        </p:nvSpPr>
        <p:spPr bwMode="auto">
          <a:xfrm>
            <a:off x="2339631" y="26775601"/>
            <a:ext cx="1664566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49275" indent="-549275" latinLnBrk="1">
              <a:spcBef>
                <a:spcPct val="20000"/>
              </a:spcBef>
              <a:buChar char="•"/>
              <a:defRPr kumimoji="1" sz="10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9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7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6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pure pursuit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의 기하학적인 관계의 한계점을 극복하기 위한 </a:t>
            </a:r>
            <a:r>
              <a:rPr lang="en-US" altLang="ko-KR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PID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제어는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반응속도를 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높이며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정상 상태에서의 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진동하는 </a:t>
            </a:r>
            <a:r>
              <a:rPr lang="ko-KR" altLang="en-US" sz="28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조향각을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수렴</a:t>
            </a:r>
            <a:endParaRPr lang="en-US" altLang="ko-KR" sz="28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굴림" panose="020B0600000101010101" pitchFamily="50" charset="-127"/>
              <a:buChar char="█"/>
            </a:pP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운전자의 개입이 어느 정도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필요 되는 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자율주행 단계에서도 사각을 통해 다가오는 차량을 시스템이 초기 회피를 하고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추후 </a:t>
            </a:r>
            <a:r>
              <a:rPr lang="ko-KR" altLang="en-US" sz="2800" dirty="0">
                <a:latin typeface="HY견고딕" panose="02030600000101010101" pitchFamily="18" charset="-127"/>
                <a:ea typeface="HY견고딕" panose="02030600000101010101" pitchFamily="18" charset="-127"/>
              </a:rPr>
              <a:t>운전자의 개입을 유도할 수 있다는 점에서 </a:t>
            </a:r>
            <a:r>
              <a:rPr lang="ko-KR" altLang="en-US" sz="2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의미를 가짐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2355933" y="21829926"/>
            <a:ext cx="16887658" cy="2829600"/>
            <a:chOff x="1438722" y="22437149"/>
            <a:chExt cx="16887658" cy="2829600"/>
          </a:xfrm>
        </p:grpSpPr>
        <p:grpSp>
          <p:nvGrpSpPr>
            <p:cNvPr id="41" name="그룹 40"/>
            <p:cNvGrpSpPr/>
            <p:nvPr/>
          </p:nvGrpSpPr>
          <p:grpSpPr>
            <a:xfrm>
              <a:off x="1438722" y="22437149"/>
              <a:ext cx="8439703" cy="2819439"/>
              <a:chOff x="1438722" y="22437149"/>
              <a:chExt cx="8439703" cy="2819439"/>
            </a:xfrm>
          </p:grpSpPr>
          <p:pic>
            <p:nvPicPr>
              <p:cNvPr id="46" name="_x361756600" descr="EMB00000cf8323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80" r="5618"/>
              <a:stretch>
                <a:fillRect/>
              </a:stretch>
            </p:blipFill>
            <p:spPr bwMode="auto">
              <a:xfrm>
                <a:off x="1438722" y="22437149"/>
                <a:ext cx="4722489" cy="2819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_x361757480" descr="EMB00000cf83238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9242" y="22437149"/>
                <a:ext cx="3759183" cy="281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2" name="그룹 41"/>
            <p:cNvGrpSpPr/>
            <p:nvPr/>
          </p:nvGrpSpPr>
          <p:grpSpPr>
            <a:xfrm>
              <a:off x="9911503" y="22437149"/>
              <a:ext cx="8414877" cy="2827401"/>
              <a:chOff x="10958030" y="22471854"/>
              <a:chExt cx="8414877" cy="2827401"/>
            </a:xfrm>
          </p:grpSpPr>
          <p:pic>
            <p:nvPicPr>
              <p:cNvPr id="44" name="_x361757400" descr="EMB00000cf83235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65" r="5743"/>
              <a:stretch>
                <a:fillRect/>
              </a:stretch>
            </p:blipFill>
            <p:spPr bwMode="auto">
              <a:xfrm>
                <a:off x="10958030" y="22480455"/>
                <a:ext cx="4683247" cy="281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_x361757400" descr="EMB00000cf8323b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615297" y="22471854"/>
                <a:ext cx="3757610" cy="281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43" name="직선 연결선 42"/>
            <p:cNvCxnSpPr/>
            <p:nvPr/>
          </p:nvCxnSpPr>
          <p:spPr>
            <a:xfrm>
              <a:off x="9878425" y="22437149"/>
              <a:ext cx="0" cy="28296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189</Words>
  <Application>Microsoft Office PowerPoint</Application>
  <PresentationFormat>사용자 지정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HY견고딕</vt:lpstr>
      <vt:lpstr>HY헤드라인M</vt:lpstr>
      <vt:lpstr>굴림</vt:lpstr>
      <vt:lpstr>맑은 고딕</vt:lpstr>
      <vt:lpstr>Cambria Math</vt:lpstr>
      <vt:lpstr>기본 디자인</vt:lpstr>
      <vt:lpstr>PowerPoint 프레젠테이션</vt:lpstr>
    </vt:vector>
  </TitlesOfParts>
  <Company>caplab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thlee</dc:creator>
  <cp:lastModifiedBy>Windows 사용자</cp:lastModifiedBy>
  <cp:revision>331</cp:revision>
  <cp:lastPrinted>2012-10-05T08:08:37Z</cp:lastPrinted>
  <dcterms:created xsi:type="dcterms:W3CDTF">2003-05-26T13:13:24Z</dcterms:created>
  <dcterms:modified xsi:type="dcterms:W3CDTF">2020-06-07T07:55:25Z</dcterms:modified>
</cp:coreProperties>
</file>